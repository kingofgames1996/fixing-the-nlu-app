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source deck: Week 4 CSSSS.pdf, page 1 for team/title context; pages 2-6 for problem, target users, future state, system capabilities, and support concepts.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Week 4 CSSSS.pdf, page 2 for target users (students and professors).
- Week 4 CSSSS.pdf, page 3 and the diagram on page 3 for user issues: assignment link errors, confusing login, app/website mismatch, loading/course visibility issues, and reporting problems.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Week 4 CSSSS.pdf, page 4 for the future-state idea of recoding/stabilizing the app and website with ongoing updates.
- Week 4 CSSSS.pdf, page 5 for capabilities: easier access, integrated support, and better login persistence.
- Week 4 CSSSS.pdf, page 6 for the concept of built-in AI support to guide users through the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Week 4 CSSSS.pdf, page 4 for the idea of separate staff responsibilities, debugging, recoding, and ongoing updates as part of the future state.
- Week 4 CSSSS.pdf, page 5 for system capabilities such as easier course access and saved login behavior.
- Week 4 CSSSS.pdf, page 6 for built-in AI/help support as part of user guidance.
- Architecture labels and grouping are a polished synthesis of the team's original redesign idea for presentation purposes.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Week 4 CSSSS.pdf, page 5 for easy course access and login/session convenience.
- Week 4 CSSSS.pdf, page 6 for AI-supported user guidance.
- Prototype screen labels are a polished representation of the team's redesign goals, aligned to the assignment requirement to explain what the Odoo prototype demonstrates.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Week 4 CSSSS.pdf, pages 4-6 for the team's future-state goals: stability, ongoing updates, improved support, easier access, and AI-assisted navigation.
- Closing phrasing is a concise synthesis of the deck for employer-facing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CB1BC"/>
          </a:solidFill>
          <a:ln w="12700">
            <a:solidFill>
              <a:srgbClr val="2CB1B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0"/>
            <a:ext cx="11899087" cy="146304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640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B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8 System Pitch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005840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NLU Digital Experience Redesign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9E2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systems pitch for improving the NLU app and website experience for students and professors.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3017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B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Francisco Ruiz, Joshua Estrada, Abdurasul Cherbekov,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Adilet Bekmukambetov, Chelsea Botello, Bryan Guajardo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75120" y="1051560"/>
            <a:ext cx="452628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1051560"/>
            <a:ext cx="4526280" cy="237744"/>
          </a:xfrm>
          <a:prstGeom prst="rect">
            <a:avLst/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84848" y="1120140"/>
            <a:ext cx="54864" cy="54864"/>
          </a:xfrm>
          <a:prstGeom prst="ellipse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94576" y="1120140"/>
            <a:ext cx="54864" cy="54864"/>
          </a:xfrm>
          <a:prstGeom prst="ellipse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04304" y="1120140"/>
            <a:ext cx="54864" cy="54864"/>
          </a:xfrm>
          <a:prstGeom prst="ellipse">
            <a:avLst/>
          </a:prstGeom>
          <a:solidFill>
            <a:srgbClr val="2CB1BC"/>
          </a:solidFill>
          <a:ln w="12700">
            <a:solidFill>
              <a:srgbClr val="2CB1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39712" y="1362456"/>
            <a:ext cx="4233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Student Portal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95160" y="1600200"/>
            <a:ext cx="1097280" cy="502920"/>
          </a:xfrm>
          <a:prstGeom prst="round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68312" y="1755648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11312" y="1600200"/>
            <a:ext cx="1051560" cy="50292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75564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390888" y="1600200"/>
            <a:ext cx="1280160" cy="502920"/>
          </a:xfrm>
          <a:prstGeom prst="roundRect">
            <a:avLst/>
          </a:prstGeom>
          <a:solidFill>
            <a:srgbClr val="F0FDFB"/>
          </a:solidFill>
          <a:ln w="12700">
            <a:solidFill>
              <a:srgbClr val="B8EC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18904" y="1755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485632" y="242316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95160" y="3675888"/>
            <a:ext cx="3410712" cy="1353312"/>
          </a:xfrm>
          <a:prstGeom prst="roundRect">
            <a:avLst>
              <a:gd name="adj" fmla="val 5405"/>
            </a:avLst>
          </a:prstGeom>
          <a:solidFill>
            <a:srgbClr val="FBFD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588752" y="2423160"/>
            <a:ext cx="292608" cy="2606040"/>
          </a:xfrm>
          <a:prstGeom prst="roundRect">
            <a:avLst>
              <a:gd name="adj" fmla="val 25000"/>
            </a:avLst>
          </a:prstGeom>
          <a:solidFill>
            <a:srgbClr val="EAF2FF"/>
          </a:solidFill>
          <a:ln w="12700">
            <a:solidFill>
              <a:srgbClr val="D9E8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69480" y="2651760"/>
            <a:ext cx="402336" cy="40233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69480" y="2706624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708392" y="2670048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place for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tasks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8942832" y="2615184"/>
            <a:ext cx="1170432" cy="301752"/>
          </a:xfrm>
          <a:prstGeom prst="roundRect">
            <a:avLst/>
          </a:prstGeom>
          <a:solidFill>
            <a:srgbClr val="2CB1BC"/>
          </a:solidFill>
          <a:ln w="12700">
            <a:solidFill>
              <a:srgbClr val="2CB1B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34272" y="2697480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Help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741664" y="297180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guidance + ticket routing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faster issue resolution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7269480" y="3904488"/>
            <a:ext cx="1371600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42632" y="3931920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Fewer Clicks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759952" y="3904488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E7F8EF"/>
          </a:solidFill>
          <a:ln w="12700">
            <a:solidFill>
              <a:srgbClr val="E7F8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33104" y="393192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7A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Access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69480" y="4352544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redesigned experience focuses on navigation, authentication, and support - the most common points of friction in the current system.</a:t>
            </a:r>
            <a:endParaRPr lang="en-US" sz="1130" dirty="0"/>
          </a:p>
        </p:txBody>
      </p:sp>
      <p:sp>
        <p:nvSpPr>
          <p:cNvPr id="36" name="Text 33"/>
          <p:cNvSpPr/>
          <p:nvPr/>
        </p:nvSpPr>
        <p:spPr>
          <a:xfrm>
            <a:off x="1147572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&amp;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120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Who the system is for - and where the experience breaks down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89611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team identified students and professors as the primary users and focused on the issues that most disrupt daily academic tasks.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298448"/>
            <a:ext cx="109728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600200"/>
            <a:ext cx="2331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968" y="1874520"/>
            <a:ext cx="530352" cy="530352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929384"/>
            <a:ext cx="530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72768" y="18470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Students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86968" y="246888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quick access to courses, assignments, grades, and support without confusing navigation or repeated login issues.</a:t>
            </a:r>
            <a:endParaRPr lang="en-US" sz="1170" dirty="0"/>
          </a:p>
        </p:txBody>
      </p:sp>
      <p:sp>
        <p:nvSpPr>
          <p:cNvPr id="12" name="Shape 10"/>
          <p:cNvSpPr/>
          <p:nvPr/>
        </p:nvSpPr>
        <p:spPr>
          <a:xfrm>
            <a:off x="658368" y="3703320"/>
            <a:ext cx="23317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6968" y="3977640"/>
            <a:ext cx="530352" cy="530352"/>
          </a:xfrm>
          <a:prstGeom prst="ellipse">
            <a:avLst/>
          </a:prstGeom>
          <a:solidFill>
            <a:srgbClr val="2CB1BC"/>
          </a:solidFill>
          <a:ln w="12700">
            <a:solidFill>
              <a:srgbClr val="2CB1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4032504"/>
            <a:ext cx="530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72768" y="39502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Professors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86968" y="459028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reliable course visibility, clean workflows, and fewer platform interruptions when supporting students.</a:t>
            </a:r>
            <a:endParaRPr lang="en-US" sz="1170" dirty="0"/>
          </a:p>
        </p:txBody>
      </p:sp>
      <p:sp>
        <p:nvSpPr>
          <p:cNvPr id="17" name="Shape 15"/>
          <p:cNvSpPr/>
          <p:nvPr/>
        </p:nvSpPr>
        <p:spPr>
          <a:xfrm>
            <a:off x="3273552" y="1627632"/>
            <a:ext cx="38862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38144" y="1792224"/>
            <a:ext cx="1261872" cy="256032"/>
          </a:xfrm>
          <a:prstGeom prst="roundRect">
            <a:avLst>
              <a:gd name="adj" fmla="val 28571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11296" y="181965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Navigation friction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1801368"/>
            <a:ext cx="2075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and website are harder to navigate than they should be.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3273552" y="2688336"/>
            <a:ext cx="38862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38144" y="2852928"/>
            <a:ext cx="1261872" cy="256032"/>
          </a:xfrm>
          <a:prstGeom prst="roundRect">
            <a:avLst>
              <a:gd name="adj" fmla="val 28571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11296" y="2880360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 friction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862072"/>
            <a:ext cx="2075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can be forced to sign in repeatedly and lose time on routine tasks.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3273552" y="3749040"/>
            <a:ext cx="38862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38144" y="3913632"/>
            <a:ext cx="1261872" cy="256032"/>
          </a:xfrm>
          <a:prstGeom prst="roundRect">
            <a:avLst>
              <a:gd name="adj" fmla="val 28571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11296" y="3941064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/ link access issues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3922776"/>
            <a:ext cx="2075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Assignment links and course visibility problems interrupt work.</a:t>
            </a:r>
            <a:endParaRPr lang="en-US" sz="1130" dirty="0"/>
          </a:p>
        </p:txBody>
      </p:sp>
      <p:sp>
        <p:nvSpPr>
          <p:cNvPr id="29" name="Shape 27"/>
          <p:cNvSpPr/>
          <p:nvPr/>
        </p:nvSpPr>
        <p:spPr>
          <a:xfrm>
            <a:off x="3273552" y="4809744"/>
            <a:ext cx="38862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38144" y="4974336"/>
            <a:ext cx="1261872" cy="256032"/>
          </a:xfrm>
          <a:prstGeom prst="roundRect">
            <a:avLst>
              <a:gd name="adj" fmla="val 28571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11296" y="500176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support path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0" y="4983480"/>
            <a:ext cx="2075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something breaks, users need a faster and clearer way to get help.</a:t>
            </a:r>
            <a:endParaRPr lang="en-US" sz="1130" dirty="0"/>
          </a:p>
        </p:txBody>
      </p:sp>
      <p:sp>
        <p:nvSpPr>
          <p:cNvPr id="33" name="Text 31"/>
          <p:cNvSpPr/>
          <p:nvPr/>
        </p:nvSpPr>
        <p:spPr>
          <a:xfrm>
            <a:off x="7543800" y="16459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user journey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543800" y="2011680"/>
            <a:ext cx="896112" cy="1143000"/>
          </a:xfrm>
          <a:prstGeom prst="roundRect">
            <a:avLst>
              <a:gd name="adj" fmla="val 8163"/>
            </a:avLst>
          </a:prstGeom>
          <a:solidFill>
            <a:srgbClr val="EEF4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35240" y="239572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session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8458200" y="2404872"/>
            <a:ext cx="118872" cy="237744"/>
          </a:xfrm>
          <a:prstGeom prst="chevron">
            <a:avLst/>
          </a:prstGeom>
          <a:solidFill>
            <a:srgbClr val="C7D3E3"/>
          </a:solidFill>
          <a:ln w="12700">
            <a:solidFill>
              <a:srgbClr val="C7D3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22792" y="2011680"/>
            <a:ext cx="896112" cy="1143000"/>
          </a:xfrm>
          <a:prstGeom prst="roundRect">
            <a:avLst>
              <a:gd name="adj" fmla="val 8163"/>
            </a:avLst>
          </a:prstGeom>
          <a:solidFill>
            <a:srgbClr val="FDE8E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14232" y="239572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Encounter issue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9537192" y="2404872"/>
            <a:ext cx="118872" cy="237744"/>
          </a:xfrm>
          <a:prstGeom prst="chevron">
            <a:avLst/>
          </a:prstGeom>
          <a:solidFill>
            <a:srgbClr val="C7D3E3"/>
          </a:solidFill>
          <a:ln w="12700">
            <a:solidFill>
              <a:srgbClr val="C7D3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701784" y="2011680"/>
            <a:ext cx="896112" cy="1143000"/>
          </a:xfrm>
          <a:prstGeom prst="roundRect">
            <a:avLst>
              <a:gd name="adj" fmla="val 8163"/>
            </a:avLst>
          </a:prstGeom>
          <a:solidFill>
            <a:srgbClr val="FFF5E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793224" y="239572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/ retry</a:t>
            </a:r>
            <a:endParaRPr lang="en-US" sz="1020" dirty="0"/>
          </a:p>
        </p:txBody>
      </p:sp>
      <p:sp>
        <p:nvSpPr>
          <p:cNvPr id="42" name="Shape 40"/>
          <p:cNvSpPr/>
          <p:nvPr/>
        </p:nvSpPr>
        <p:spPr>
          <a:xfrm>
            <a:off x="10616184" y="2404872"/>
            <a:ext cx="118872" cy="237744"/>
          </a:xfrm>
          <a:prstGeom prst="chevron">
            <a:avLst/>
          </a:prstGeom>
          <a:solidFill>
            <a:srgbClr val="C7D3E3"/>
          </a:solidFill>
          <a:ln w="12700">
            <a:solidFill>
              <a:srgbClr val="C7D3E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780776" y="2011680"/>
            <a:ext cx="896112" cy="1143000"/>
          </a:xfrm>
          <a:prstGeom prst="roundRect">
            <a:avLst>
              <a:gd name="adj" fmla="val 8163"/>
            </a:avLst>
          </a:prstGeom>
          <a:solidFill>
            <a:srgbClr val="EEF4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872216" y="239572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problem</a:t>
            </a:r>
            <a:endParaRPr lang="en-US" sz="1020" dirty="0"/>
          </a:p>
        </p:txBody>
      </p:sp>
      <p:sp>
        <p:nvSpPr>
          <p:cNvPr id="45" name="Shape 43"/>
          <p:cNvSpPr/>
          <p:nvPr/>
        </p:nvSpPr>
        <p:spPr>
          <a:xfrm>
            <a:off x="7543800" y="3657600"/>
            <a:ext cx="3931920" cy="1627632"/>
          </a:xfrm>
          <a:prstGeom prst="roundRect">
            <a:avLst>
              <a:gd name="adj" fmla="val 4494"/>
            </a:avLst>
          </a:prstGeom>
          <a:solidFill>
            <a:srgbClr val="FBFD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72400" y="39136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772400" y="4224528"/>
            <a:ext cx="34564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NLU users need a more reliable and intuitive digital experience because navigation issues, login friction, and support gaps create avoidable barriers to teaching and learning.</a:t>
            </a:r>
            <a:endParaRPr lang="en-US" sz="1320" dirty="0"/>
          </a:p>
        </p:txBody>
      </p:sp>
      <p:sp>
        <p:nvSpPr>
          <p:cNvPr id="49" name="Text 46"/>
          <p:cNvSpPr/>
          <p:nvPr/>
        </p:nvSpPr>
        <p:spPr>
          <a:xfrm>
            <a:off x="1147572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CONCEPT &amp; VALUE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120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unified digital experience instead of a fragmented one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89611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solution is a redesigned NLU portal that brings navigation, support, and routine academic actions into one consistent system.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298448"/>
            <a:ext cx="109728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627632"/>
            <a:ext cx="521208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847088"/>
            <a:ext cx="1965960" cy="292608"/>
          </a:xfrm>
          <a:prstGeom prst="roundRect">
            <a:avLst>
              <a:gd name="adj" fmla="val 25000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1874520"/>
            <a:ext cx="1819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system does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32688" y="2340864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30" dirty="0"/>
          </a:p>
        </p:txBody>
      </p:sp>
      <p:sp>
        <p:nvSpPr>
          <p:cNvPr id="11" name="Text 9"/>
          <p:cNvSpPr/>
          <p:nvPr/>
        </p:nvSpPr>
        <p:spPr>
          <a:xfrm>
            <a:off x="1133856" y="2322576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Creates one consistent front door across the NLU app and website.</a:t>
            </a:r>
            <a:endParaRPr lang="en-US" sz="1330" dirty="0"/>
          </a:p>
        </p:txBody>
      </p:sp>
      <p:sp>
        <p:nvSpPr>
          <p:cNvPr id="12" name="Text 10"/>
          <p:cNvSpPr/>
          <p:nvPr/>
        </p:nvSpPr>
        <p:spPr>
          <a:xfrm>
            <a:off x="932688" y="2843784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1133856" y="2825496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Centralizes course links, common services, and support requests.</a:t>
            </a:r>
            <a:endParaRPr lang="en-US" sz="1330" dirty="0"/>
          </a:p>
        </p:txBody>
      </p:sp>
      <p:sp>
        <p:nvSpPr>
          <p:cNvPr id="14" name="Text 12"/>
          <p:cNvSpPr/>
          <p:nvPr/>
        </p:nvSpPr>
        <p:spPr>
          <a:xfrm>
            <a:off x="932688" y="3346704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30" dirty="0"/>
          </a:p>
        </p:txBody>
      </p:sp>
      <p:sp>
        <p:nvSpPr>
          <p:cNvPr id="15" name="Text 13"/>
          <p:cNvSpPr/>
          <p:nvPr/>
        </p:nvSpPr>
        <p:spPr>
          <a:xfrm>
            <a:off x="1133856" y="3328416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Guides users with built-in help so issues are solved faster.</a:t>
            </a:r>
            <a:endParaRPr lang="en-US" sz="1330" dirty="0"/>
          </a:p>
        </p:txBody>
      </p:sp>
      <p:sp>
        <p:nvSpPr>
          <p:cNvPr id="16" name="Text 14"/>
          <p:cNvSpPr/>
          <p:nvPr/>
        </p:nvSpPr>
        <p:spPr>
          <a:xfrm>
            <a:off x="932688" y="3849624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1133856" y="3831336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Reduces repeat login friction with a cleaner, more stable access flow.</a:t>
            </a:r>
            <a:endParaRPr lang="en-US" sz="1330" dirty="0"/>
          </a:p>
        </p:txBody>
      </p:sp>
      <p:sp>
        <p:nvSpPr>
          <p:cNvPr id="18" name="Text 16"/>
          <p:cNvSpPr/>
          <p:nvPr/>
        </p:nvSpPr>
        <p:spPr>
          <a:xfrm>
            <a:off x="932688" y="4352544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1133856" y="4334256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continuous improvement through updates instead of patchwork fixes.</a:t>
            </a:r>
            <a:endParaRPr lang="en-US" sz="1330" dirty="0"/>
          </a:p>
        </p:txBody>
      </p:sp>
      <p:sp>
        <p:nvSpPr>
          <p:cNvPr id="20" name="Shape 18"/>
          <p:cNvSpPr/>
          <p:nvPr/>
        </p:nvSpPr>
        <p:spPr>
          <a:xfrm>
            <a:off x="6108192" y="1627632"/>
            <a:ext cx="5413248" cy="2011680"/>
          </a:xfrm>
          <a:prstGeom prst="roundRect">
            <a:avLst>
              <a:gd name="adj" fmla="val 3636"/>
            </a:avLst>
          </a:prstGeom>
          <a:solidFill>
            <a:srgbClr val="FBFD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45936" y="1847088"/>
            <a:ext cx="2176272" cy="292608"/>
          </a:xfrm>
          <a:prstGeom prst="roundRect">
            <a:avLst>
              <a:gd name="adj" fmla="val 25000"/>
            </a:avLst>
          </a:prstGeom>
          <a:solidFill>
            <a:srgbClr val="E7F8EF"/>
          </a:solidFill>
          <a:ln w="12700">
            <a:solidFill>
              <a:srgbClr val="E7F8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9088" y="1874520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7A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improves the current state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55080" y="230428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redesign shifts users from trial-and-error navigation to a guided, role-aware experience. That means less wasted time, fewer missed tasks, and clearer support when something goes wrong.</a:t>
            </a:r>
            <a:endParaRPr lang="en-US" sz="1310" dirty="0"/>
          </a:p>
        </p:txBody>
      </p:sp>
      <p:sp>
        <p:nvSpPr>
          <p:cNvPr id="24" name="Text 22"/>
          <p:cNvSpPr/>
          <p:nvPr/>
        </p:nvSpPr>
        <p:spPr>
          <a:xfrm>
            <a:off x="6355080" y="39136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state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052560" y="39136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state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44768" y="4151376"/>
            <a:ext cx="2286000" cy="1417320"/>
          </a:xfrm>
          <a:prstGeom prst="roundRect">
            <a:avLst>
              <a:gd name="adj" fmla="val 5161"/>
            </a:avLst>
          </a:prstGeom>
          <a:solidFill>
            <a:srgbClr val="FDE8E8"/>
          </a:solidFill>
          <a:ln w="12700">
            <a:solidFill>
              <a:srgbClr val="F7C2C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842248" y="4151376"/>
            <a:ext cx="2286000" cy="1417320"/>
          </a:xfrm>
          <a:prstGeom prst="roundRect">
            <a:avLst>
              <a:gd name="adj" fmla="val 5161"/>
            </a:avLst>
          </a:prstGeom>
          <a:solidFill>
            <a:srgbClr val="E7F8EF"/>
          </a:solidFill>
          <a:ln w="12700">
            <a:solidFill>
              <a:srgbClr val="B7E5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82512" y="446227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pain points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 logins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Hard-to-find actions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079992" y="446227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7A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 portal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27A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support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27A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issue resolution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531352" y="4572000"/>
            <a:ext cx="164592" cy="329184"/>
          </a:xfrm>
          <a:prstGeom prst="chevron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147572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HIGH-LEVEL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120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enterprise technology supports the solution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89611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design uses a modular portal layer so NLU can improve the user experience without replacing every back-end system at once.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298448"/>
            <a:ext cx="109728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664208"/>
            <a:ext cx="1234440" cy="274320"/>
          </a:xfrm>
          <a:prstGeom prst="roundRect">
            <a:avLst>
              <a:gd name="adj" fmla="val 26667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91640"/>
            <a:ext cx="1088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07792" y="1664208"/>
            <a:ext cx="2011680" cy="274320"/>
          </a:xfrm>
          <a:prstGeom prst="roundRect">
            <a:avLst>
              <a:gd name="adj" fmla="val 26667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80944" y="1691640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NLU Portal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53328" y="1664208"/>
            <a:ext cx="2304288" cy="274320"/>
          </a:xfrm>
          <a:prstGeom prst="roundRect">
            <a:avLst>
              <a:gd name="adj" fmla="val 26667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69164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Odoo Service Layer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454896" y="1664208"/>
            <a:ext cx="1783080" cy="274320"/>
          </a:xfrm>
          <a:prstGeom prst="roundRect">
            <a:avLst>
              <a:gd name="adj" fmla="val 26667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28048" y="1691640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NLU Systems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49808" y="2121408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9264" y="2359152"/>
            <a:ext cx="310896" cy="31089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241401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35024" y="240487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49808" y="342900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9264" y="3666744"/>
            <a:ext cx="310896" cy="310896"/>
          </a:xfrm>
          <a:prstGeom prst="ellipse">
            <a:avLst/>
          </a:prstGeom>
          <a:solidFill>
            <a:srgbClr val="2CB1BC"/>
          </a:solidFill>
          <a:ln w="12700">
            <a:solidFill>
              <a:srgbClr val="2CB1B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372160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35024" y="371246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651760" y="2084832"/>
            <a:ext cx="2514600" cy="2578608"/>
          </a:xfrm>
          <a:prstGeom prst="roundRect">
            <a:avLst>
              <a:gd name="adj" fmla="val 2909"/>
            </a:avLst>
          </a:prstGeom>
          <a:solidFill>
            <a:srgbClr val="EEF4FF"/>
          </a:solidFill>
          <a:ln w="12700">
            <a:solidFill>
              <a:srgbClr val="C7D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07792" y="235915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Responsive web + app experience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2880360" y="290779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60" dirty="0"/>
          </a:p>
        </p:txBody>
      </p:sp>
      <p:sp>
        <p:nvSpPr>
          <p:cNvPr id="26" name="Text 24"/>
          <p:cNvSpPr/>
          <p:nvPr/>
        </p:nvSpPr>
        <p:spPr>
          <a:xfrm>
            <a:off x="3081528" y="288950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160" dirty="0"/>
          </a:p>
        </p:txBody>
      </p:sp>
      <p:sp>
        <p:nvSpPr>
          <p:cNvPr id="27" name="Text 25"/>
          <p:cNvSpPr/>
          <p:nvPr/>
        </p:nvSpPr>
        <p:spPr>
          <a:xfrm>
            <a:off x="2880360" y="3291840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60" dirty="0"/>
          </a:p>
        </p:txBody>
      </p:sp>
      <p:sp>
        <p:nvSpPr>
          <p:cNvPr id="28" name="Text 26"/>
          <p:cNvSpPr/>
          <p:nvPr/>
        </p:nvSpPr>
        <p:spPr>
          <a:xfrm>
            <a:off x="3081528" y="327355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/ link access</a:t>
            </a:r>
            <a:endParaRPr lang="en-US" sz="1160" dirty="0"/>
          </a:p>
        </p:txBody>
      </p:sp>
      <p:sp>
        <p:nvSpPr>
          <p:cNvPr id="29" name="Text 27"/>
          <p:cNvSpPr/>
          <p:nvPr/>
        </p:nvSpPr>
        <p:spPr>
          <a:xfrm>
            <a:off x="2880360" y="3675888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60" dirty="0"/>
          </a:p>
        </p:txBody>
      </p:sp>
      <p:sp>
        <p:nvSpPr>
          <p:cNvPr id="30" name="Text 28"/>
          <p:cNvSpPr/>
          <p:nvPr/>
        </p:nvSpPr>
        <p:spPr>
          <a:xfrm>
            <a:off x="3081528" y="365760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 reporting</a:t>
            </a:r>
            <a:endParaRPr lang="en-US" sz="1160" dirty="0"/>
          </a:p>
        </p:txBody>
      </p:sp>
      <p:sp>
        <p:nvSpPr>
          <p:cNvPr id="31" name="Text 29"/>
          <p:cNvSpPr/>
          <p:nvPr/>
        </p:nvSpPr>
        <p:spPr>
          <a:xfrm>
            <a:off x="2880360" y="4059936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60" dirty="0"/>
          </a:p>
        </p:txBody>
      </p:sp>
      <p:sp>
        <p:nvSpPr>
          <p:cNvPr id="32" name="Text 30"/>
          <p:cNvSpPr/>
          <p:nvPr/>
        </p:nvSpPr>
        <p:spPr>
          <a:xfrm>
            <a:off x="3081528" y="404164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navigation</a:t>
            </a:r>
            <a:endParaRPr lang="en-US" sz="1160" dirty="0"/>
          </a:p>
        </p:txBody>
      </p:sp>
      <p:sp>
        <p:nvSpPr>
          <p:cNvPr id="33" name="Shape 31"/>
          <p:cNvSpPr/>
          <p:nvPr/>
        </p:nvSpPr>
        <p:spPr>
          <a:xfrm>
            <a:off x="5925312" y="2130552"/>
            <a:ext cx="254203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44768" y="230428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Portal / Website</a:t>
            </a:r>
            <a:endParaRPr lang="en-US" sz="1220" dirty="0"/>
          </a:p>
        </p:txBody>
      </p:sp>
      <p:sp>
        <p:nvSpPr>
          <p:cNvPr id="35" name="Shape 33"/>
          <p:cNvSpPr/>
          <p:nvPr/>
        </p:nvSpPr>
        <p:spPr>
          <a:xfrm>
            <a:off x="5925312" y="2907792"/>
            <a:ext cx="2542032" cy="566928"/>
          </a:xfrm>
          <a:prstGeom prst="roundRect">
            <a:avLst>
              <a:gd name="adj" fmla="val 12903"/>
            </a:avLst>
          </a:prstGeom>
          <a:solidFill>
            <a:srgbClr val="FBFD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44768" y="3081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Helpdesk + Knowledge</a:t>
            </a:r>
            <a:endParaRPr lang="en-US" sz="1220" dirty="0"/>
          </a:p>
        </p:txBody>
      </p:sp>
      <p:sp>
        <p:nvSpPr>
          <p:cNvPr id="37" name="Shape 35"/>
          <p:cNvSpPr/>
          <p:nvPr/>
        </p:nvSpPr>
        <p:spPr>
          <a:xfrm>
            <a:off x="5925312" y="3685032"/>
            <a:ext cx="254203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44768" y="385876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+ Workflows</a:t>
            </a:r>
            <a:endParaRPr lang="en-US" sz="1220" dirty="0"/>
          </a:p>
        </p:txBody>
      </p:sp>
      <p:sp>
        <p:nvSpPr>
          <p:cNvPr id="39" name="Shape 37"/>
          <p:cNvSpPr/>
          <p:nvPr/>
        </p:nvSpPr>
        <p:spPr>
          <a:xfrm>
            <a:off x="5925312" y="4462272"/>
            <a:ext cx="2542032" cy="566928"/>
          </a:xfrm>
          <a:prstGeom prst="roundRect">
            <a:avLst>
              <a:gd name="adj" fmla="val 12903"/>
            </a:avLst>
          </a:prstGeom>
          <a:solidFill>
            <a:srgbClr val="FBFD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44768" y="463600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Notifications + Updates</a:t>
            </a:r>
            <a:endParaRPr lang="en-US" sz="1220" dirty="0"/>
          </a:p>
        </p:txBody>
      </p:sp>
      <p:sp>
        <p:nvSpPr>
          <p:cNvPr id="41" name="Shape 39"/>
          <p:cNvSpPr/>
          <p:nvPr/>
        </p:nvSpPr>
        <p:spPr>
          <a:xfrm>
            <a:off x="9235440" y="2176272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36608" y="235000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LMS / courses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235440" y="297180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436608" y="314553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/ messaging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235440" y="3767328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436608" y="3941064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services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235440" y="4562856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436608" y="473659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support team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2267712" y="3063240"/>
            <a:ext cx="237744" cy="411480"/>
          </a:xfrm>
          <a:prstGeom prst="chevron">
            <a:avLst/>
          </a:prstGeom>
          <a:solidFill>
            <a:srgbClr val="B0C4DE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376672" y="3063240"/>
            <a:ext cx="237744" cy="411480"/>
          </a:xfrm>
          <a:prstGeom prst="chevron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668512" y="3063240"/>
            <a:ext cx="237744" cy="411480"/>
          </a:xfrm>
          <a:prstGeom prst="chevron">
            <a:avLst/>
          </a:prstGeom>
          <a:solidFill>
            <a:srgbClr val="B0C4DE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651760" y="516636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BFD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889504" y="539496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value: the portal layer standardizes the user experience while the modular Odoo services handle workflows, support, and updates behind the scenes.</a:t>
            </a:r>
            <a:endParaRPr lang="en-US" sz="1260" dirty="0"/>
          </a:p>
        </p:txBody>
      </p:sp>
      <p:sp>
        <p:nvSpPr>
          <p:cNvPr id="55" name="Text 52"/>
          <p:cNvSpPr/>
          <p:nvPr/>
        </p:nvSpPr>
        <p:spPr>
          <a:xfrm>
            <a:off x="1147572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HIGHLIGHT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120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Odoo prototype demonstrates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89611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prototype focuses on the visible user experience - showing how navigation, support, and service access can work together in one place.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298448"/>
            <a:ext cx="109728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719072"/>
            <a:ext cx="2880360" cy="3127248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719072"/>
            <a:ext cx="2880360" cy="237744"/>
          </a:xfrm>
          <a:prstGeom prst="rect">
            <a:avLst/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6968" y="1787652"/>
            <a:ext cx="54864" cy="54864"/>
          </a:xfrm>
          <a:prstGeom prst="ellipse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" y="1787652"/>
            <a:ext cx="54864" cy="54864"/>
          </a:xfrm>
          <a:prstGeom prst="ellipse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6424" y="1787652"/>
            <a:ext cx="54864" cy="54864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2029968"/>
            <a:ext cx="2587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Central dashboard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78408" y="2304288"/>
            <a:ext cx="1078992" cy="713232"/>
          </a:xfrm>
          <a:prstGeom prst="roundRect">
            <a:avLst>
              <a:gd name="adj" fmla="val 10256"/>
            </a:avLst>
          </a:prstGeom>
          <a:solidFill>
            <a:srgbClr val="EEF4FF"/>
          </a:solidFill>
          <a:ln w="12700">
            <a:solidFill>
              <a:srgbClr val="D9E8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94560" y="2304288"/>
            <a:ext cx="1078992" cy="713232"/>
          </a:xfrm>
          <a:prstGeom prst="roundRect">
            <a:avLst>
              <a:gd name="adj" fmla="val 10256"/>
            </a:avLst>
          </a:prstGeom>
          <a:solidFill>
            <a:srgbClr val="E7F8EF"/>
          </a:solidFill>
          <a:ln w="12700">
            <a:solidFill>
              <a:srgbClr val="CFE9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8408" y="3182112"/>
            <a:ext cx="2295144" cy="1143000"/>
          </a:xfrm>
          <a:prstGeom prst="roundRect">
            <a:avLst>
              <a:gd name="adj" fmla="val 6400"/>
            </a:avLst>
          </a:prstGeom>
          <a:solidFill>
            <a:srgbClr val="FBFD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98448" y="253288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514600" y="253288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61288" y="3566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homepage brings the most common student actions together.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4069080" y="1719072"/>
            <a:ext cx="2880360" cy="3127248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69080" y="1719072"/>
            <a:ext cx="2880360" cy="237744"/>
          </a:xfrm>
          <a:prstGeom prst="rect">
            <a:avLst/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78808" y="1787652"/>
            <a:ext cx="54864" cy="54864"/>
          </a:xfrm>
          <a:prstGeom prst="ellipse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88536" y="1787652"/>
            <a:ext cx="54864" cy="54864"/>
          </a:xfrm>
          <a:prstGeom prst="ellipse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98264" y="1787652"/>
            <a:ext cx="54864" cy="54864"/>
          </a:xfrm>
          <a:prstGeom prst="ellipse">
            <a:avLst/>
          </a:prstGeom>
          <a:solidFill>
            <a:srgbClr val="2CB1BC"/>
          </a:solidFill>
          <a:ln w="12700">
            <a:solidFill>
              <a:srgbClr val="2CB1B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33672" y="2029968"/>
            <a:ext cx="2587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Guided support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25112" y="2212848"/>
            <a:ext cx="2359152" cy="1691640"/>
          </a:xfrm>
          <a:prstGeom prst="roundRect">
            <a:avLst>
              <a:gd name="adj" fmla="val 4324"/>
            </a:avLst>
          </a:prstGeom>
          <a:solidFill>
            <a:srgbClr val="F9FB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82312" y="248716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can we help?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572000" y="2907792"/>
            <a:ext cx="1847088" cy="256032"/>
          </a:xfrm>
          <a:prstGeom prst="roundRect">
            <a:avLst>
              <a:gd name="adj" fmla="val 28571"/>
            </a:avLst>
          </a:prstGeom>
          <a:solidFill>
            <a:srgbClr val="E7F8EF"/>
          </a:solidFill>
          <a:ln w="12700">
            <a:solidFill>
              <a:srgbClr val="E7F8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45152" y="2935224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7A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answer or open ticket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453128" y="33649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1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Built-in guidance reduces confusion before users need to escalate an issue.</a:t>
            </a:r>
            <a:endParaRPr lang="en-US" sz="1110" dirty="0"/>
          </a:p>
        </p:txBody>
      </p:sp>
      <p:sp>
        <p:nvSpPr>
          <p:cNvPr id="30" name="Shape 28"/>
          <p:cNvSpPr/>
          <p:nvPr/>
        </p:nvSpPr>
        <p:spPr>
          <a:xfrm>
            <a:off x="7360920" y="1719072"/>
            <a:ext cx="2880360" cy="3127248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60920" y="1719072"/>
            <a:ext cx="2880360" cy="237744"/>
          </a:xfrm>
          <a:prstGeom prst="rect">
            <a:avLst/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70648" y="1787652"/>
            <a:ext cx="54864" cy="54864"/>
          </a:xfrm>
          <a:prstGeom prst="ellipse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80376" y="1787652"/>
            <a:ext cx="54864" cy="54864"/>
          </a:xfrm>
          <a:prstGeom prst="ellipse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90104" y="1787652"/>
            <a:ext cx="54864" cy="54864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25512" y="2029968"/>
            <a:ext cx="2587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Issue resolution flow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616952" y="2212848"/>
            <a:ext cx="914400" cy="566928"/>
          </a:xfrm>
          <a:prstGeom prst="roundRect">
            <a:avLst>
              <a:gd name="adj" fmla="val 12903"/>
            </a:avLst>
          </a:prstGeom>
          <a:solidFill>
            <a:srgbClr val="FFF5E8"/>
          </a:solidFill>
          <a:ln w="12700">
            <a:solidFill>
              <a:srgbClr val="F7D9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86800" y="2212848"/>
            <a:ext cx="914400" cy="566928"/>
          </a:xfrm>
          <a:prstGeom prst="roundRect">
            <a:avLst>
              <a:gd name="adj" fmla="val 12903"/>
            </a:avLst>
          </a:prstGeom>
          <a:solidFill>
            <a:srgbClr val="EEF4FF"/>
          </a:solidFill>
          <a:ln w="12700">
            <a:solidFill>
              <a:srgbClr val="D9E8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47304" y="3090672"/>
            <a:ext cx="914400" cy="566928"/>
          </a:xfrm>
          <a:prstGeom prst="roundRect">
            <a:avLst>
              <a:gd name="adj" fmla="val 12903"/>
            </a:avLst>
          </a:prstGeom>
          <a:solidFill>
            <a:srgbClr val="E7F8EF"/>
          </a:solidFill>
          <a:ln w="12700">
            <a:solidFill>
              <a:srgbClr val="CFE9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45552" y="2404872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</a:t>
            </a:r>
            <a:endParaRPr lang="en-US" sz="1020" dirty="0"/>
          </a:p>
        </p:txBody>
      </p:sp>
      <p:sp>
        <p:nvSpPr>
          <p:cNvPr id="40" name="Text 38"/>
          <p:cNvSpPr/>
          <p:nvPr/>
        </p:nvSpPr>
        <p:spPr>
          <a:xfrm>
            <a:off x="8933688" y="2404872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</a:t>
            </a:r>
            <a:endParaRPr lang="en-US" sz="1020" dirty="0"/>
          </a:p>
        </p:txBody>
      </p:sp>
      <p:sp>
        <p:nvSpPr>
          <p:cNvPr id="41" name="Text 39"/>
          <p:cNvSpPr/>
          <p:nvPr/>
        </p:nvSpPr>
        <p:spPr>
          <a:xfrm>
            <a:off x="8357616" y="3282696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</a:t>
            </a:r>
            <a:endParaRPr lang="en-US" sz="1020" dirty="0"/>
          </a:p>
        </p:txBody>
      </p:sp>
      <p:sp>
        <p:nvSpPr>
          <p:cNvPr id="42" name="Shape 40"/>
          <p:cNvSpPr/>
          <p:nvPr/>
        </p:nvSpPr>
        <p:spPr>
          <a:xfrm>
            <a:off x="8531352" y="2496312"/>
            <a:ext cx="146304" cy="0"/>
          </a:xfrm>
          <a:prstGeom prst="line">
            <a:avLst/>
          </a:prstGeom>
          <a:noFill/>
          <a:ln w="12700">
            <a:solidFill>
              <a:srgbClr val="F0B429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9144000" y="2788920"/>
            <a:ext cx="-347472" cy="301752"/>
          </a:xfrm>
          <a:prstGeom prst="line">
            <a:avLst/>
          </a:prstGeom>
          <a:noFill/>
          <a:ln w="12700">
            <a:solidFill>
              <a:srgbClr val="F0B429"/>
            </a:solidFill>
            <a:prstDash val="solid"/>
            <a:headEnd type="none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7744968" y="3749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1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workflow shows how the system can move from confusion to action.</a:t>
            </a:r>
            <a:endParaRPr lang="en-US" sz="1110" dirty="0"/>
          </a:p>
        </p:txBody>
      </p:sp>
      <p:sp>
        <p:nvSpPr>
          <p:cNvPr id="45" name="Shape 43"/>
          <p:cNvSpPr/>
          <p:nvPr/>
        </p:nvSpPr>
        <p:spPr>
          <a:xfrm>
            <a:off x="777240" y="5102352"/>
            <a:ext cx="94640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05840" y="5358384"/>
            <a:ext cx="9006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matters: the prototype proves the redesign can start with a manageable front-end layer that improves the user experience now while leaving room for future integrations and enhancements.</a:t>
            </a:r>
            <a:endParaRPr lang="en-US" sz="1260" dirty="0"/>
          </a:p>
        </p:txBody>
      </p:sp>
      <p:sp>
        <p:nvSpPr>
          <p:cNvPr id="48" name="Text 45"/>
          <p:cNvSpPr/>
          <p:nvPr/>
        </p:nvSpPr>
        <p:spPr>
          <a:xfrm>
            <a:off x="1147572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 &amp; TAKEAWAY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120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system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89611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redesign is meaningful because it solves a real campus problem with a practical, maintainable systems approach.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298448"/>
            <a:ext cx="109728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755648"/>
            <a:ext cx="5084064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76672" y="1938528"/>
            <a:ext cx="310896" cy="914400"/>
          </a:xfrm>
          <a:prstGeom prst="roundRect">
            <a:avLst>
              <a:gd name="adj" fmla="val 17647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751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Better daily experience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2304288"/>
            <a:ext cx="4343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9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and professors spend less time fighting the platform and more time on learning and teaching.</a:t>
            </a:r>
            <a:endParaRPr lang="en-US" sz="1190" dirty="0"/>
          </a:p>
        </p:txBody>
      </p:sp>
      <p:sp>
        <p:nvSpPr>
          <p:cNvPr id="11" name="Shape 9"/>
          <p:cNvSpPr/>
          <p:nvPr/>
        </p:nvSpPr>
        <p:spPr>
          <a:xfrm>
            <a:off x="6327648" y="1755648"/>
            <a:ext cx="5084064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54512" y="1938528"/>
            <a:ext cx="310896" cy="914400"/>
          </a:xfrm>
          <a:prstGeom prst="roundRect">
            <a:avLst>
              <a:gd name="adj" fmla="val 17647"/>
            </a:avLst>
          </a:prstGeom>
          <a:solidFill>
            <a:srgbClr val="2CB1BC"/>
          </a:solidFill>
          <a:ln w="12700">
            <a:solidFill>
              <a:srgbClr val="2CB1B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9751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Clearer support path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83680" y="2304288"/>
            <a:ext cx="4343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9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Built-in guidance and issue routing reduce frustration when the system does not behave as expected.</a:t>
            </a:r>
            <a:endParaRPr lang="en-US" sz="1190" dirty="0"/>
          </a:p>
        </p:txBody>
      </p:sp>
      <p:sp>
        <p:nvSpPr>
          <p:cNvPr id="15" name="Shape 13"/>
          <p:cNvSpPr/>
          <p:nvPr/>
        </p:nvSpPr>
        <p:spPr>
          <a:xfrm>
            <a:off x="749808" y="3355848"/>
            <a:ext cx="5084064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76672" y="3538728"/>
            <a:ext cx="310896" cy="914400"/>
          </a:xfrm>
          <a:prstGeom prst="roundRect">
            <a:avLst>
              <a:gd name="adj" fmla="val 17647"/>
            </a:avLst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5753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Stronger system trust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05840" y="3904488"/>
            <a:ext cx="4343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9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stable and consistent experience increases confidence in NLU digital services.</a:t>
            </a:r>
            <a:endParaRPr lang="en-US" sz="1190" dirty="0"/>
          </a:p>
        </p:txBody>
      </p:sp>
      <p:sp>
        <p:nvSpPr>
          <p:cNvPr id="19" name="Shape 17"/>
          <p:cNvSpPr/>
          <p:nvPr/>
        </p:nvSpPr>
        <p:spPr>
          <a:xfrm>
            <a:off x="6327648" y="3355848"/>
            <a:ext cx="5084064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54512" y="3538728"/>
            <a:ext cx="310896" cy="914400"/>
          </a:xfrm>
          <a:prstGeom prst="roundRect">
            <a:avLst>
              <a:gd name="adj" fmla="val 17647"/>
            </a:avLst>
          </a:prstGeom>
          <a:solidFill>
            <a:srgbClr val="7F56D9"/>
          </a:solidFill>
          <a:ln w="12700">
            <a:solidFill>
              <a:srgbClr val="7F56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35753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Scalable improvement model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583680" y="3904488"/>
            <a:ext cx="4343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9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modular portal and service layer make future updates easier than patching isolated issues.</a:t>
            </a:r>
            <a:endParaRPr lang="en-US" sz="1190" dirty="0"/>
          </a:p>
        </p:txBody>
      </p:sp>
      <p:sp>
        <p:nvSpPr>
          <p:cNvPr id="23" name="Shape 21"/>
          <p:cNvSpPr/>
          <p:nvPr/>
        </p:nvSpPr>
        <p:spPr>
          <a:xfrm>
            <a:off x="749808" y="5230368"/>
            <a:ext cx="10588752" cy="640080"/>
          </a:xfrm>
          <a:prstGeom prst="roundRect">
            <a:avLst>
              <a:gd name="adj" fmla="val 11429"/>
            </a:avLst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9264" y="5440680"/>
            <a:ext cx="10104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Bottom line: this system redesign turns a frustrating digital experience into a more usable, supportable, and enterprise-ready campus platform.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1147572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NLU Redesign - System Pitch</dc:title>
  <dc:subject>Week 8 System Pitch - NLU Redesign</dc:subject>
  <dc:creator>OpenAI</dc:creator>
  <cp:lastModifiedBy>OpenAI</cp:lastModifiedBy>
  <cp:revision>1</cp:revision>
  <dcterms:created xsi:type="dcterms:W3CDTF">2026-03-09T15:07:58Z</dcterms:created>
  <dcterms:modified xsi:type="dcterms:W3CDTF">2026-03-09T15:07:58Z</dcterms:modified>
</cp:coreProperties>
</file>